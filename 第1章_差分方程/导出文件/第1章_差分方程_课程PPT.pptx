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c5c9b597ee49d2" /><Relationship Type="http://schemas.openxmlformats.org/officeDocument/2006/relationships/extended-properties" Target="/docProps/app.xml" Id="Rd4cf39472b9942fe" /><Relationship Type="http://schemas.openxmlformats.org/officeDocument/2006/relationships/officeDocument" Target="/ppt/presentation.xml" Id="Rc2b156868f41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ed09265d14632"/>
  </p:sldMasterIdLst>
  <p:notesMasterIdLst>
    <p:notesMasterId xmlns:r="http://schemas.openxmlformats.org/officeDocument/2006/relationships" r:id="R513bd6783f2f4f68"/>
  </p:notesMasterIdLst>
  <p:sldIdLst>
    <p:sldId xmlns:r="http://schemas.openxmlformats.org/officeDocument/2006/relationships" id="256" r:id="R7f6d718615564903"/>
    <p:sldId xmlns:r="http://schemas.openxmlformats.org/officeDocument/2006/relationships" id="257" r:id="R1e94827667774954"/>
    <p:sldId xmlns:r="http://schemas.openxmlformats.org/officeDocument/2006/relationships" id="258" r:id="R67f4238ad3c24259"/>
    <p:sldId xmlns:r="http://schemas.openxmlformats.org/officeDocument/2006/relationships" id="259" r:id="Rb90b1dc24f8349be"/>
    <p:sldId xmlns:r="http://schemas.openxmlformats.org/officeDocument/2006/relationships" id="260" r:id="R79b6f8b0a4634dd6"/>
    <p:sldId xmlns:r="http://schemas.openxmlformats.org/officeDocument/2006/relationships" id="261" r:id="R68268d58693446b1"/>
    <p:sldId xmlns:r="http://schemas.openxmlformats.org/officeDocument/2006/relationships" id="262" r:id="R251c6ec006034185"/>
    <p:sldId xmlns:r="http://schemas.openxmlformats.org/officeDocument/2006/relationships" id="263" r:id="Rdc3b5922f075473f"/>
    <p:sldId xmlns:r="http://schemas.openxmlformats.org/officeDocument/2006/relationships" id="264" r:id="R4a47655ed41f4ee0"/>
    <p:sldId xmlns:r="http://schemas.openxmlformats.org/officeDocument/2006/relationships" id="265" r:id="R8f6ca300b16943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d012afa9c448c8" /><Relationship Type="http://schemas.openxmlformats.org/officeDocument/2006/relationships/slideMaster" Target="/ppt/slideMasters/slideMaster1.xml" Id="R77ded09265d14632" /><Relationship Type="http://schemas.openxmlformats.org/officeDocument/2006/relationships/notesMaster" Target="/ppt/notesMasters/notesMaster1.xml" Id="R513bd6783f2f4f68" /><Relationship Type="http://schemas.openxmlformats.org/officeDocument/2006/relationships/presProps" Target="/ppt/presProps.xml" Id="R976dd7e8cd2d4197" /><Relationship Type="http://schemas.openxmlformats.org/officeDocument/2006/relationships/tableStyles" Target="/ppt/tableStyles.xml" Id="R49332be6a65d4d51" /><Relationship Type="http://schemas.openxmlformats.org/officeDocument/2006/relationships/slide" Target="/ppt/slides/slide1.xml" Id="R7f6d718615564903" /><Relationship Type="http://schemas.openxmlformats.org/officeDocument/2006/relationships/slide" Target="/ppt/slides/slide2.xml" Id="R1e94827667774954" /><Relationship Type="http://schemas.openxmlformats.org/officeDocument/2006/relationships/slide" Target="/ppt/slides/slide3.xml" Id="R67f4238ad3c24259" /><Relationship Type="http://schemas.openxmlformats.org/officeDocument/2006/relationships/slide" Target="/ppt/slides/slide4.xml" Id="Rb90b1dc24f8349be" /><Relationship Type="http://schemas.openxmlformats.org/officeDocument/2006/relationships/slide" Target="/ppt/slides/slide5.xml" Id="R79b6f8b0a4634dd6" /><Relationship Type="http://schemas.openxmlformats.org/officeDocument/2006/relationships/slide" Target="/ppt/slides/slide6.xml" Id="R68268d58693446b1" /><Relationship Type="http://schemas.openxmlformats.org/officeDocument/2006/relationships/slide" Target="/ppt/slides/slide7.xml" Id="R251c6ec006034185" /><Relationship Type="http://schemas.openxmlformats.org/officeDocument/2006/relationships/slide" Target="/ppt/slides/slide8.xml" Id="Rdc3b5922f075473f" /><Relationship Type="http://schemas.openxmlformats.org/officeDocument/2006/relationships/slide" Target="/ppt/slides/slide9.xml" Id="R4a47655ed41f4ee0" /><Relationship Type="http://schemas.openxmlformats.org/officeDocument/2006/relationships/slide" Target="/ppt/slides/slide10.xml" Id="R8f6ca300b169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caa4b8684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c121326d84549" /><Relationship Type="http://schemas.openxmlformats.org/officeDocument/2006/relationships/notesMaster" Target="/ppt/notesMasters/notesMaster1.xml" Id="Rdc70d1535916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d0c7f6a3b4901" /><Relationship Type="http://schemas.openxmlformats.org/officeDocument/2006/relationships/notesMaster" Target="/ppt/notesMasters/notesMaster1.xml" Id="R3ed86640b241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05ce85607d4a1e" /><Relationship Type="http://schemas.openxmlformats.org/officeDocument/2006/relationships/notesMaster" Target="/ppt/notesMasters/notesMaster1.xml" Id="Ra74351c7d19942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fbad12bd04e86" /><Relationship Type="http://schemas.openxmlformats.org/officeDocument/2006/relationships/notesMaster" Target="/ppt/notesMasters/notesMaster1.xml" Id="Re387c285de3a41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e197e10017484f" /><Relationship Type="http://schemas.openxmlformats.org/officeDocument/2006/relationships/notesMaster" Target="/ppt/notesMasters/notesMaster1.xml" Id="R0f02abdaaa7d43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8356f423d4f3b" /><Relationship Type="http://schemas.openxmlformats.org/officeDocument/2006/relationships/notesMaster" Target="/ppt/notesMasters/notesMaster1.xml" Id="Rccff6bb2bd43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9634bfd8ac4a87" /><Relationship Type="http://schemas.openxmlformats.org/officeDocument/2006/relationships/notesMaster" Target="/ppt/notesMasters/notesMaster1.xml" Id="Ra2a582d9db1d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21b2efdf943b1" /><Relationship Type="http://schemas.openxmlformats.org/officeDocument/2006/relationships/notesMaster" Target="/ppt/notesMasters/notesMaster1.xml" Id="R070485f84c3241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6e743529764e61" /><Relationship Type="http://schemas.openxmlformats.org/officeDocument/2006/relationships/notesMaster" Target="/ppt/notesMasters/notesMaster1.xml" Id="R9619e121d714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5421cc2c5947dd" /><Relationship Type="http://schemas.openxmlformats.org/officeDocument/2006/relationships/notesMaster" Target="/ppt/notesMasters/notesMaster1.xml" Id="R37f048a9395b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7b238331b4e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065db1aa204aea" /><Relationship Type="http://schemas.openxmlformats.org/officeDocument/2006/relationships/slideLayout" Target="/ppt/slideLayouts/slideLayout1.xml" Id="R8a2cd03281504e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cd03281504e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fc591a9e042c4" /><Relationship Type="http://schemas.openxmlformats.org/officeDocument/2006/relationships/notesSlide" Target="/ppt/notesSlides/notesSlide1.xml" Id="Ra819c2f76257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cebc91a834bb2" /><Relationship Type="http://schemas.openxmlformats.org/officeDocument/2006/relationships/notesSlide" Target="/ppt/notesSlides/notesSlide2.xml" Id="Rcdfde389918045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857cbd0be4071" /><Relationship Type="http://schemas.openxmlformats.org/officeDocument/2006/relationships/image" Target="/ppt/media/image.png" Id="R39ba22d9aaf74862" /><Relationship Type="http://schemas.openxmlformats.org/officeDocument/2006/relationships/notesSlide" Target="/ppt/notesSlides/notesSlide3.xml" Id="R64544c65a0b5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25a3553a4743" /><Relationship Type="http://schemas.openxmlformats.org/officeDocument/2006/relationships/notesSlide" Target="/ppt/notesSlides/notesSlide4.xml" Id="R55a7622724e4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1e9202604aa7" /><Relationship Type="http://schemas.openxmlformats.org/officeDocument/2006/relationships/notesSlide" Target="/ppt/notesSlides/notesSlide5.xml" Id="R8d4d982549ae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e4e81d9364e9f" /><Relationship Type="http://schemas.openxmlformats.org/officeDocument/2006/relationships/notesSlide" Target="/ppt/notesSlides/notesSlide6.xml" Id="R0be4603e7bb140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09c157f8e43d2" /><Relationship Type="http://schemas.openxmlformats.org/officeDocument/2006/relationships/notesSlide" Target="/ppt/notesSlides/notesSlide7.xml" Id="Rbfbd64bbc3b8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ab61632514049" /><Relationship Type="http://schemas.openxmlformats.org/officeDocument/2006/relationships/notesSlide" Target="/ppt/notesSlides/notesSlide8.xml" Id="Re1be5ef844634a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04b43657412d" /><Relationship Type="http://schemas.openxmlformats.org/officeDocument/2006/relationships/notesSlide" Target="/ppt/notesSlides/notesSlide9.xml" Id="Rfc64e2a4eb0c4d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c70be6de34a68" /><Relationship Type="http://schemas.openxmlformats.org/officeDocument/2006/relationships/notesSlide" Target="/ppt/notesSlides/notesSlide10.xml" Id="R13d1fc5c9def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C77F3-DA59-4D9D-919B-85D3E3C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3DEC1-7D91-4225-B391-4E3388B7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904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第 1 章</a:t>
            </a:r>
          </a:p>
          <a:p xmlns:a="http://schemas.openxmlformats.org/drawingml/2006/main">
            <a:pPr algn="l">
              <a:defRPr sz="4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差分方程与时间序列模型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0A0F7-7C50-4D92-A07F-A109908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从时间序列的运动方程出发：预测、均衡调整与可检验的动态模型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E7F1C-9D2B-4ED6-9E5C-0F36FEC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B74BE-361E-4D1A-90F2-6F8FB89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适用对象：应用经济学硕士与低年级博士生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521D1-0B06-431E-BF22-81F47FC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基于 Walter Enders《Applied Econometric Time Series》第一章的教学重构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B3822-537A-4F18-8520-496373A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D1DA6-F51C-4CCF-B87C-9F2EF0D6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C6C5C-80E0-48C8-A86C-98A6A89E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329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11831-B18B-49C8-9B50-676AD30A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02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AC87-3AEA-406D-B8BC-05D9E52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为什么从“动态”而不是从“回归”开始？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670FE-AB0D-459A-A098-3513AED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时间序列的核心对象不是一组孤立观测，而是一条由过去、冲击和调整机制共同生成的路径。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09FB1-6108-4BD6-8138-FF2D99B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F2FD6-A158-4DF5-B4B9-4414878F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同一条序列，至少包含三类信息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1DFE-057C-415D-AD3A-CF0C4346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3F07D-6483-4476-A47E-65537C7D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9FAF7-8A34-406C-9773-FDCCC6D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过去状态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51F65-C508-40E8-8441-D49EB64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滞后值把历史带入现在。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例如：惯性、存量、预期与调整成本。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E84CC-89E0-4AEB-A21B-7F9C4F17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C5219-FADB-421C-8EF4-75ADA2E7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B9BAD-9A85-4C7A-811A-5E894978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系统规律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0785-796C-4185-924F-70939CF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趋势、季节、均衡关系或行为方程，规定变量如何演化。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2B163-5EEC-4898-87A8-300E2F9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3333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4FEF0-E2AF-4EAC-AD99-3ABCB1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36327-296D-46B9-B2B9-BABA5B8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新的冲击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C758C-B0A1-4F1E-BCD6-83DBF56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每期都有不能被过去完全预见的创新：政策、需求、金融与测量误差。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F5ECE-3700-4D7B-885A-F1E611C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问题：给定今天的状态与已知规则，明天会怎样？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9C582-717E-4ABF-AB4A-6AEE3E17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EF6FC-8967-4C0D-BB8B-A8FC36B3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1447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DF1FC-D435-4C89-BD5A-BE7A1578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03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4A6F2-67A2-444E-B84F-484F835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图 1.1：把一条经济时间序列拆开来看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6FBC6-3064-4AEC-A839-6311E09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观测值 = 趋势 + 季节 + 不规则项；预测来自对各成分运动规律的延伸。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21344-CDE7-4453-B683-892F0446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a22d9aaf74862"/>
          <a:stretch xmlns:a="http://schemas.openxmlformats.org/drawingml/2006/main"/>
        </p:blipFill>
        <p:spPr>
          <a:xfrm xmlns:a="http://schemas.openxmlformats.org/drawingml/2006/main">
            <a:off x="1083129" y="1943100"/>
            <a:ext cx="5987143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62C29-8312-4FA6-9493-9D0E1B78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2C47E-E1D3-4430-83C6-E92EF49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008FA-EC26-4677-94C8-9394007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趋势 Tₜ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9A6A4-F40E-4DF9-989C-0A01D579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336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决定长期平均水平。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例：Tₜ = 1 + 0.1t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6F504-68AC-47FA-B7CA-71418DE4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FB1B7-DA9C-493A-984C-9D2C2036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6108B-7B18-40D8-A24B-8007266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季节 Sₜ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99B18-037B-4B30-A927-CA617C06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产生重复的周期性波动。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例：Sₜ = 1.6 sin(tπ/6)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CCD2B-C699-4384-A4F5-E1595C61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6D6B4-067D-4988-B396-A44C222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7F0D8-635D-49B3-AB1F-B1625E5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不规则 Iₜ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CF053-6FAB-458D-A299-4A43A13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054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短期相关、长期衰减。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例：Iₜ = 0.7Iₜ₋₁ + εₜ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BF421-47C5-4BDA-B5FC-FDF61044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5E806-288B-4636-B909-A2B723A7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3676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F5DBF-9ECA-4B53-913F-7BDFC51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04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AA0F-28E5-43C0-8BDA-6080461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从分解到运动方程：什么是差分方程？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B0A09-95C0-4A07-BFD3-90DBDCC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差分方程把当前值写成过去值、时间、其他变量和随机扰动的函数。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3B47B-593B-497F-BA00-AC17F7B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8052-4194-4A01-9A5C-42D9E529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yₜ = f(yₜ₋₁, yₜ₋₂, …, t, xₜ, xₜ₋₁, …, εₜ)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FC106-79A8-4AC8-B512-8479A81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它不仅说明变量之间“同时发生什么”，还说明变量从 t−1 到 t 如何调整。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2FEEA-17D1-43F9-AD5B-D903D9A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给定初始条件、外生变量路径与冲击序列，差分方程生成整个时间路径。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CA5A7-763B-4D83-9740-7F765EB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25157-9656-4B93-A22A-D8C8D9E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初始状态</a:t>
            </a:r>
          </a:p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y₀, y₋₁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BA80A-44E0-4F88-80E3-A866733F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815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315D0-2B22-48C6-BB74-61357BED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24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B33D5-6C3F-4F4B-A523-19DF2D14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38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动态规则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701C2-FBB5-4956-B9AB-51D3D9E5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0100"/>
            <a:ext cx="257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1313B-F2C7-4BC7-8BBD-32DDA88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yₜ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6FCBE-DEE3-44C9-BF3C-76D9440D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815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12EC6-9F08-4FB2-8C82-BDCE4696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24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9A016-3471-49DE-A0E9-132441D9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38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递推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D3541-D525-4FF6-A3BF-AB2B08E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01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11F26-0E38-4890-B99B-8E0D5218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339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未来路径</a:t>
            </a:r>
          </a:p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yₜ₊₁, yₜ₊₂,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5E824-568E-4AFF-91C7-144132D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3CE49-7BCF-4097-B9E8-D5BBCEAE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8799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134D6-89E8-4C0D-9773-FFD231B6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05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DA8CC-9467-40A3-BF16-6D44BB8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例 1：随机游走——价格变化中的“新信息”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28848-BB69-43FF-98C2-D09B3AD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随机游走提供了一个最简单的随机差分方程，也是检验可预测性的基准。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0B2BC-A98D-43EF-8B0A-CC6AF76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75D11-B529-4A1A-8629-407021F0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yₜ₊₁ = yₜ + εₜ₊₁       或       Δyₜ₊₁ = εₜ₊₁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28341-9A80-4025-A8C5-C82384B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30861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202B1-E956-436B-8123-37CE5CAC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0026F-3413-429F-A396-9593B25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经济含义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33448-0792-40EF-9194-1C9D0280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26289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yₜ 为股票价格的对数。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新的价格变化只来自 t 期无法预见的创新。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02792-368C-45E9-8F45-E031612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90875"/>
            <a:ext cx="30861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82E0E-9C8F-490B-8ED6-FC4CCEEF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9087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1678F-5AA9-4825-8B86-3F3E325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可检验形式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14F8D-23BE-471C-865C-687C8C4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6289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Δyₜ₊₁ = a₀ + a₁yₜ + εₜ₊₁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随机游走要求 a₀ = a₁ = 0。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13508-A4BA-4AA0-8532-B5E47E4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30861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6B4C5-813A-4D31-9715-615FD67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59DD0-06EF-4970-B5C3-D69A502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不要误解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A02BA-4190-4DA0-8432-CC731797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81425"/>
            <a:ext cx="26289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它不是“价格不变”，而是“给定当前信息，变化没有系统性可预测部分”。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BDB70-27E5-4E8D-864A-F79676C1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这里的关键不是预测价格水平，而是检验过去信息是否仍含有可利用的预测内容。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47C39-BC85-4EE6-AFD7-00D4DD65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50617-4A32-43BA-BE4E-32788A06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9640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8EDBA-5A58-4CE3-AEFA-839F862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06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27A98-0ABD-4B5A-929A-A1AFC57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例 2：收入—消费—投资系统（结构式）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06F46-84C2-44FF-9B21-8FE3AF9D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经济理论常自然地给出一组相互联系的差分方程。Samuelson 的模型说明这一点。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C0106-A7C0-4304-9B43-84B9FA3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163EE-C94A-4F00-8F08-8A28E215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rPr>
              <a:t>yₜ = cₜ + iₜ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0A915-0B40-40BC-AA1C-BC27B7A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rPr>
              <a:t>cₜ = αyₜ₋₁ + εᶜₜ， 0 &lt; α &lt;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3875A-72C2-4210-BA27-95EA75A8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iₜ = β(cₜ − cₜ₋₁) + εⁱₜ， β &gt;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266D3-5348-4EA9-B44C-72FC0D57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0D1EF-38FA-46CF-9C85-6F27C0C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产出 yₜ</a:t>
            </a:r>
          </a:p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消费 + 投资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70DBD-F045-4BF9-B549-70F1781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97E93-3D4F-4A25-B9A3-98BD8BB7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24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F0B0C-7D9A-4084-89EE-82CCD00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滞后收入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6DBCE-1321-44C9-A7DA-521BA2B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05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7054D-EB52-4D66-8319-F98D297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767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消费 cₜ</a:t>
            </a:r>
          </a:p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αyₜ₋₁ + 冲击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84885-DC03-45A3-A380-CB7E98F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81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191EC-6333-4676-A002-C944D864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02ACB-0674-4C8F-B9E7-2428F24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38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消费变化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B51FB-09D2-496C-A938-2DB3523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E12F7-14A5-4D56-855C-DB6B80B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投资 iₜ</a:t>
            </a:r>
          </a:p>
          <a:p xmlns:a="http://schemas.openxmlformats.org/drawingml/2006/main">
            <a:pPr algn="ctr">
              <a:def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加速数原理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BCB2E-3F0F-4CAD-80F7-89E00AEF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结构式保留行为机制；但当期内生变量彼此相连，单方程预测并不直接。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3000E-3D5E-4A76-8478-C3FB522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BE424-0101-4029-95C4-AE0419F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421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FC2D5-4A96-4C10-8443-59BBBB1B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07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95037-7C73-48E5-B3F4-4E4D1A51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从结构式到简化式：为什么预测常使用滞后变量？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D8612-FF9A-4476-9805-976BD0FA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通过代入消去当前的其他内生变量，可得到只含自身历史与扰动的单变量方程。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F2E5E-0C20-4EC1-B696-AAA5484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A0DC0-F665-4CF8-9D53-BCB3A41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代入消费方程与投资方程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38A35-6E97-4BC7-A436-B035635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479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54E27-21C2-48E6-86E6-1C013AD6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90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AF009-3828-43E3-B470-EA47C8F8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05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消去 cₜ 与 iₜ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76A67-F9EA-4807-A583-DFC384A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yₜ = α(1 + β)yₜ₋₁ − αβyₜ₋₂ + xₜ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FD5D7-1287-489B-A1B6-316FA4D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7434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1CC1B-9080-4C4F-B76F-B7618E8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62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8ED9D-1993-48A8-AEF2-77E62380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简化式的收益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8A4A-A392-45E8-B2EA-33D4B853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286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• 当前产出仅由过去产出和扰动决定。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• 给定参数与历史 yₜ，可递推预测 yₜ₊₁、yₜ₊₂、…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• 这正是单变量时间序列模型的工作方式。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D03C1-0835-4728-943E-2901F9A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7434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FDD44-AA3A-4113-84C9-2180B7E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762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852AE-9692-4DA8-86D2-0BD2B0A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简化式的代价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D44D4-8546-4B93-ACC4-0F4E4A6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286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• 它隐藏了消费和投资的当期行为机制。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• 用于预测很方便；识别 α 与 β 等结构参数则需额外理论限制。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F4176-B137-4605-84A5-5ADEAAFA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F00CA-DA6A-48FD-9073-529980CC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9907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E65E9-8F42-4F89-B1BE-6A39246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08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1BDBF-3916-4316-9334-007CA766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例 3：误差修正——偏离均衡会触发调整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45F4-90D4-4BD8-BEBB-8E5566AB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长期均衡关系并不要求每一期都严格成立；关键是偏离后是否存在回调力量。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7E720-2257-4B2E-9B2E-DCDD523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BBA5-AB64-43C9-BCC2-D10E1E39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17191D"/>
                </a:solidFill>
                <a:latin typeface="Cambria Math"/>
                <a:ea typeface="Cambria Math"/>
                <a:cs typeface="Cambria Math"/>
              </a:rPr>
              <a:t>sₜ₊₁ = fₜ + εₜ₊₁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972FC-CD7B-48C0-8207-1D08FC6E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336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无偏远期汇率关系：从 t 期看，远期价格 fₜ 是下一期即期价格 sₜ₊₁ 的无偏预测。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851F1-E035-4863-947B-0FE63D61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sₜ₊₂ = sₜ₊₁ − α(sₜ₊₁ − fₜ) + εˢₜ₊₂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59CBE-4434-43AB-A45E-A11344FC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fₜ₊₁ = fₜ + β(sₜ₊₁ − fₜ) + εᶠₜ₊₁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3C8AB-3C39-4AF5-882C-C12143D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D85EB-7DAB-4A3A-B775-B864ED2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76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偏离：sₜ₊₁ − fₜ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8054D-F6E1-46D4-9E26-B515007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ED371-74FE-41ED-BFE2-EADB189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43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A306B-3694-49F6-80EB-947AA1E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误差修正项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516B2-FFCF-4C6A-9B1B-1C43A8A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14900"/>
            <a:ext cx="428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236AF-3878-46B5-9D02-ACCC1B4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7682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即期回落、远期上升 → 回到长期均衡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F941D-FCA0-44EB-B345-644AA46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DE063-F984-4580-968C-9D87D66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9359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B9894-6DEE-4D17-842E-F538B3F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09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2A80A-F931-487F-BB50-CEE6E3DD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例 4：非线性动态——正、负变化的反应可以不同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5B5B8-6136-4E67-A41F-B932DE0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线性模型假定系数恒定；经济主体的调整往往具有不对称性。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9AF87-6362-4382-A3E8-F3D0CB77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A8CD2-5A4C-49D8-A952-E37220F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iₜ = β₁(cₜ − cₜ₋₁) − λₜβ₂(cₜ − cₜ₋₁) + εⁱₜ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80E25-850B-429C-8F3C-CB85B0A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8FE40-ACC7-46FC-BF0B-34C66C2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7930-C52F-42B9-828C-4D7DF0E9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290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消费上升：Δcₜ ≥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E36DF-2D02-4B2A-A1D9-4A4A5B8A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29050"/>
            <a:ext cx="3543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λₜ = 0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iₜ = β₁Δcₜ + εⁱₜ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企业可能迅速增加投资以扩张产能。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97BEF-7C31-46FB-8C61-2EBC6A52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4000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5DA09-2B57-439D-8117-DB3B14A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FA862-4B91-48FF-9AE7-E2CEE7BA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290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消费下降：Δcₜ &lt;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8D985-98A4-4682-B807-784A31E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3543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λₜ = 1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iₜ = (β₁ − β₂)Δcₜ + εⁱₜ</a:t>
            </a:r>
          </a:p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企业可能主要通过降低开工率调整。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A1198-7B2B-4625-A5AF-6F8D379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若 β₁ &gt; β₂ &gt; 0，则投资对消费增加的反应强于对消费减少的反应。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99D8-0611-4801-A579-B1F8E7E8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39DB6-8292-4BB8-B8CD-E5ADB67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25687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39A6C-24DB-4A3B-8E00-277D033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第 10 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86765-C900-461D-9818-E561A5B8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本部分小结：用运动方程理解时间序列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41FB1-BD51-4023-AD36-D78394B9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本课保留导言和“时间序列模型”部分；差分方程的求解技术将作为后续专题另行讲授。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AE99-26C5-40A4-9A88-D33D3E3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05ABA-CC41-4140-B352-554CD38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C8E52-3737-4225-B026-BA0D39C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分解与预测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3F73A-3D70-4FED-AE4D-C7F60E8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趋势、季节和不规则项提供了理解与预测序列的基本入口。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A6B66-BFFA-4FD6-B79B-CBFC9C2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86C4-690F-41B6-B907-9942E0A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20517-390B-469A-A144-2FBAEEC6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动态经济机制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A1AFA-A8EA-448B-AE8C-B9A7FE5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随机游走、结构式、简化式与误差修正把经济理论写成可检验的运动方程。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47916-E3FC-4991-82F0-32D8A2DC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A79E8-F776-4CE6-B607-BC28926B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9A455-77BA-4B0F-9179-74C80AF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建模边界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5379D-D93B-45A6-9ABD-BC5DFEDB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33725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线性、均衡与对称调整都是假设；非线性模型提醒我们检验它们。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4F4AA-ACED-4386-9F33-3DBF43C7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2152D-28AD-4E4B-99F1-3AD85C9D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ADC5C-5273-4562-969C-77A60E6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91D"/>
                </a:solidFill>
                <a:latin typeface="Microsoft YaHei"/>
                <a:ea typeface="Microsoft YaHei"/>
                <a:cs typeface="Microsoft YaHei"/>
              </a:rPr>
              <a:t>讨论问题：在你的研究对象中，哪些变量体现“惯性”、哪些冲击不可预见、哪些均衡关系可能被打破又逐步修复？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64048-191F-4F7D-AE6C-604D000A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经济时间序列 · 第 1 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7778F-4A92-42BE-88BF-6CBA8B1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437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2026-07-22T03:02:57.3530000Z</dcterms:created>
  <dcterms:modified xsi:type="dcterms:W3CDTF">2026-07-22T03:02:57.3540000Z</dcterms:modified>
</coreProperties>
</file>